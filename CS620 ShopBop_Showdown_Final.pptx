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97eb2a6d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d97eb2a6d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d97eb2a6d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BE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384048"/>
            <a:ext cx="9144000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75488" y="1188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CS 620  ·  CAPSTONE  · 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114800" y="1188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UW–MADISON  ×  AMAZON / SHOPBOP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75488" y="658368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8800"/>
              <a:buFont typeface="Georgia"/>
              <a:buNone/>
            </a:pPr>
            <a:r>
              <a:rPr b="0" i="0" lang="en-US" sz="88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ShopBop</a:t>
            </a:r>
            <a:endParaRPr b="0" i="0" sz="8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75488" y="1719072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3A2A"/>
              </a:buClr>
              <a:buSzPts val="8800"/>
              <a:buFont typeface="Georgia"/>
              <a:buNone/>
            </a:pPr>
            <a:r>
              <a:rPr b="0" i="1" lang="en-US" sz="8800" u="none" cap="none" strike="noStrike">
                <a:solidFill>
                  <a:srgbClr val="B83A2A"/>
                </a:solidFill>
                <a:latin typeface="Georgia"/>
                <a:ea typeface="Georgia"/>
                <a:cs typeface="Georgia"/>
                <a:sym typeface="Georgia"/>
              </a:rPr>
              <a:t>Showdown.</a:t>
            </a:r>
            <a:endParaRPr b="0" i="0" sz="8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75488" y="2926080"/>
            <a:ext cx="594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A real-time multiplayer fashion competition built on the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ShopBop catalog — turning solo browsing into a social game.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75488" y="36758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TEAM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75488" y="3877056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Leo Jeong  ·  Siddhanth Pandey  ·  Anirudh Kompella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75488" y="4105656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Ishita Kapoor  ·  Kinhkha Tran  ·  Buman-Erdem Enkhbold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0" y="4759452"/>
            <a:ext cx="9144000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BE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384048"/>
            <a:ext cx="9144000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75488" y="1188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CAPSTONE TEAM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211312" y="11887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C2BB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C8C2BB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0" y="4759452"/>
            <a:ext cx="9144000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75488" y="48234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SHOPBOP SHOWDOWN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200400" y="48234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TEAM  </a:t>
            </a:r>
            <a:r>
              <a:rPr b="0" i="0" lang="en-US" sz="850" u="none" cap="none" strike="noStrike">
                <a:solidFill>
                  <a:srgbClr val="B83A2A"/>
                </a:solidFill>
                <a:latin typeface="Trebuchet MS"/>
                <a:ea typeface="Trebuchet MS"/>
                <a:cs typeface="Trebuchet MS"/>
                <a:sym typeface="Trebuchet MS"/>
              </a:rPr>
              <a:t>•</a:t>
            </a: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  02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925312" y="48234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CS 620  ·  SPRING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75488" y="5669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SIX ENGINEERS  ·  ONE SPRINT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75488" y="804672"/>
            <a:ext cx="7315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5800"/>
              <a:buFont typeface="Georgia"/>
              <a:buNone/>
            </a:pPr>
            <a:r>
              <a:rPr b="0" i="0" lang="en-US" sz="58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The team.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75488" y="210312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ENGINEER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75488" y="230428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2600"/>
              <a:buFont typeface="Georgia"/>
              <a:buNone/>
            </a:pPr>
            <a:r>
              <a:rPr b="0" i="0" lang="en-US" sz="2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Leo Jeong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200400" y="210312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ENGINEER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200400" y="230428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2600"/>
              <a:buFont typeface="Georgia"/>
              <a:buNone/>
            </a:pPr>
            <a:r>
              <a:rPr b="0" i="0" lang="en-US" sz="2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Siddhanth Pandey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400800" y="210312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ENGINEER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400800" y="230428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2600"/>
              <a:buFont typeface="Georgia"/>
              <a:buNone/>
            </a:pPr>
            <a:r>
              <a:rPr b="0" i="0" lang="en-US" sz="2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Anirudh Kompella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75488" y="288036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ENGINEER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75488" y="308152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2600"/>
              <a:buFont typeface="Georgia"/>
              <a:buNone/>
            </a:pPr>
            <a:r>
              <a:rPr b="0" i="0" lang="en-US" sz="2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Ishita Kapoor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200400" y="288036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ENGINEER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200400" y="308152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2600"/>
              <a:buFont typeface="Georgia"/>
              <a:buNone/>
            </a:pPr>
            <a:r>
              <a:rPr b="0" i="0" lang="en-US" sz="2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Kinhkha Tran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400800" y="288036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ENGINEER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400800" y="308152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2600"/>
              <a:buFont typeface="Georgia"/>
              <a:buNone/>
            </a:pPr>
            <a:r>
              <a:rPr b="0" i="0" lang="en-US" sz="18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Buman-Erdem Enkhbold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BE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>
            <a:off x="0" y="384048"/>
            <a:ext cx="9144000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475488" y="1188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CHAPTER I  ·  THE 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8211312" y="11887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C2BB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C8C2BB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0" y="4759452"/>
            <a:ext cx="9144000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75488" y="48234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SHOPBOP SHOWDOWN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200400" y="48234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  </a:t>
            </a:r>
            <a:r>
              <a:rPr b="0" i="0" lang="en-US" sz="850" u="none" cap="none" strike="noStrike">
                <a:solidFill>
                  <a:srgbClr val="B83A2A"/>
                </a:solidFill>
                <a:latin typeface="Trebuchet MS"/>
                <a:ea typeface="Trebuchet MS"/>
                <a:cs typeface="Trebuchet MS"/>
                <a:sym typeface="Trebuchet MS"/>
              </a:rPr>
              <a:t>•</a:t>
            </a: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  03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925312" y="48234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CS 620  ·  SPRING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75488" y="5669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75488" y="804672"/>
            <a:ext cx="8229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4200"/>
              <a:buFont typeface="Georgia"/>
              <a:buNone/>
            </a:pPr>
            <a:r>
              <a:rPr b="0" i="0" lang="en-US" sz="4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Fashion discovery is a</a:t>
            </a:r>
            <a:br>
              <a:rPr b="0" i="0" lang="en-US" sz="4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1" lang="en-US" sz="4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solo, passive</a:t>
            </a:r>
            <a:r>
              <a:rPr b="0" i="0" lang="en-US" sz="4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 experience.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75488" y="2331720"/>
            <a:ext cx="8193024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612648" y="2395728"/>
            <a:ext cx="25481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5600"/>
              <a:buFont typeface="Georgia"/>
              <a:buNone/>
            </a:pPr>
            <a:r>
              <a:rPr b="0" i="0" lang="en-US" sz="56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100K</a:t>
            </a:r>
            <a:r>
              <a:rPr b="0" i="0" lang="en-US" sz="5600" u="none" cap="none" strike="noStrike">
                <a:solidFill>
                  <a:srgbClr val="B83A2A"/>
                </a:solidFill>
                <a:latin typeface="Georgia"/>
                <a:ea typeface="Georgia"/>
                <a:cs typeface="Georgia"/>
                <a:sym typeface="Georgia"/>
              </a:rPr>
              <a:t>+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12648" y="3401568"/>
            <a:ext cx="24566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Products in the ShopBop catalog 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overwhelming to browse alone.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206496" y="2331720"/>
            <a:ext cx="7315" cy="1874520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3343656" y="2395728"/>
            <a:ext cx="25481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5600"/>
              <a:buFont typeface="Georgia"/>
              <a:buNone/>
            </a:pPr>
            <a:r>
              <a:rPr b="0" i="0" lang="en-US" sz="56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343656" y="3401568"/>
            <a:ext cx="24566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Social context: shoppers can't see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whether a look actually works.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937504" y="2331720"/>
            <a:ext cx="7315" cy="1874520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074664" y="2395728"/>
            <a:ext cx="25481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5600"/>
              <a:buFont typeface="Georgia"/>
              <a:buNone/>
            </a:pPr>
            <a:r>
              <a:rPr b="0" i="0" lang="en-US" sz="56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∅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074664" y="3401568"/>
            <a:ext cx="24566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Urgency or playfulness driving real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product exploration.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75488" y="4206240"/>
            <a:ext cx="8193024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BE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>
            <a:off x="0" y="384048"/>
            <a:ext cx="9144000" cy="7200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475488" y="118872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CHAPTER I  ·  OPPORTUNITY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8211312" y="118872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C2BB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C8C2BB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0" y="4759452"/>
            <a:ext cx="9144000" cy="7200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475488" y="4823460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SHOPBOP SHOWDOWN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3200400" y="4823460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OPPORTUNITY  </a:t>
            </a:r>
            <a:r>
              <a:rPr b="0" i="0" lang="en-US" sz="850" u="none" cap="none" strike="noStrike">
                <a:solidFill>
                  <a:srgbClr val="B83A2A"/>
                </a:solidFill>
                <a:latin typeface="Trebuchet MS"/>
                <a:ea typeface="Trebuchet MS"/>
                <a:cs typeface="Trebuchet MS"/>
                <a:sym typeface="Trebuchet MS"/>
              </a:rPr>
              <a:t>•</a:t>
            </a: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  04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925312" y="4823460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CS 620  ·  SPRING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75488" y="566928"/>
            <a:ext cx="548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THE OPPORTUNITY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75488" y="933022"/>
            <a:ext cx="7772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6200"/>
              <a:buFont typeface="Georgia"/>
              <a:buNone/>
            </a:pPr>
            <a:r>
              <a:rPr b="0" i="0" lang="en-US" sz="6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Turn outfit-building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6200"/>
              <a:buFont typeface="Georgia"/>
              <a:buNone/>
            </a:pPr>
            <a:r>
              <a:rPr b="0" i="0" lang="en-US" sz="6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into a 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2677013" y="1676020"/>
            <a:ext cx="4572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3A2A"/>
              </a:buClr>
              <a:buSzPts val="6200"/>
              <a:buFont typeface="Georgia"/>
              <a:buNone/>
            </a:pPr>
            <a:r>
              <a:rPr b="0" i="1" lang="en-US" sz="6200" u="none" cap="none" strike="noStrike">
                <a:solidFill>
                  <a:srgbClr val="B83A2A"/>
                </a:solidFill>
                <a:latin typeface="Georgia"/>
                <a:ea typeface="Georgia"/>
                <a:cs typeface="Georgia"/>
                <a:sym typeface="Georgia"/>
              </a:rPr>
              <a:t>game.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75503" y="3042450"/>
            <a:ext cx="752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If discovery feels like play, exploration becomes the product — not 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chore that stands between the shopper and checkout.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BE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/>
          <p:nvPr/>
        </p:nvSpPr>
        <p:spPr>
          <a:xfrm>
            <a:off x="0" y="384048"/>
            <a:ext cx="9144000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475488" y="1188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CHAPTER II  ·  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8211312" y="11887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C2BB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C8C2BB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0" y="4759452"/>
            <a:ext cx="9144000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475488" y="48234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SHOPBOP SHOWDOWN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3200400" y="48234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  </a:t>
            </a:r>
            <a:r>
              <a:rPr b="0" i="0" lang="en-US" sz="850" u="none" cap="none" strike="noStrike">
                <a:solidFill>
                  <a:srgbClr val="B83A2A"/>
                </a:solidFill>
                <a:latin typeface="Trebuchet MS"/>
                <a:ea typeface="Trebuchet MS"/>
                <a:cs typeface="Trebuchet MS"/>
                <a:sym typeface="Trebuchet MS"/>
              </a:rPr>
              <a:t>•</a:t>
            </a: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  05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5925312" y="48234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CS 620  ·  SPRING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75488" y="5669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OUR SOLUTION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75488" y="804672"/>
            <a:ext cx="6400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4400"/>
              <a:buFont typeface="Georgia"/>
              <a:buNone/>
            </a:pPr>
            <a:r>
              <a:rPr b="0" i="0" lang="en-US" sz="44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A real-time multiplayer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4400"/>
              <a:buFont typeface="Georgia"/>
              <a:buNone/>
            </a:pPr>
            <a:r>
              <a:rPr b="0" i="0" lang="en-US" sz="44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fashion competition.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475488" y="248716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PLAYERS DO THIS...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4297680" y="248716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...AND THE GAME DOES THIS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75488" y="2761488"/>
            <a:ext cx="8193024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548640" y="2779776"/>
            <a:ext cx="36576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Join a room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343400" y="2779776"/>
            <a:ext cx="44805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Syncs everyone in a shared lobby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75488" y="3118104"/>
            <a:ext cx="8193024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548640" y="3136392"/>
            <a:ext cx="36576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Build an outfit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343400" y="3136392"/>
            <a:ext cx="44805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Enforces theme, budget &amp; timer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75488" y="3474720"/>
            <a:ext cx="8193024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548640" y="3493008"/>
            <a:ext cx="36576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Submit their look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4343400" y="3493008"/>
            <a:ext cx="44805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Generates an AI try-on preview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75488" y="3831336"/>
            <a:ext cx="8193024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548640" y="3849624"/>
            <a:ext cx="36576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Vote on outfits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343400" y="3849624"/>
            <a:ext cx="44805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Hides creator names until the reveal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75488" y="4187952"/>
            <a:ext cx="8193024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548640" y="4206240"/>
            <a:ext cx="36576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See results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343400" y="4206240"/>
            <a:ext cx="44805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Ranks outfits, crowns a winner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75488" y="4544568"/>
            <a:ext cx="8193024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21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0" y="384048"/>
            <a:ext cx="9144000" cy="7315"/>
          </a:xfrm>
          <a:prstGeom prst="rect">
            <a:avLst/>
          </a:prstGeom>
          <a:solidFill>
            <a:srgbClr val="3A3530"/>
          </a:solidFill>
          <a:ln cap="flat" cmpd="sng" w="12700">
            <a:solidFill>
              <a:srgbClr val="3A3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475488" y="1188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04A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55504A"/>
                </a:solidFill>
                <a:latin typeface="Trebuchet MS"/>
                <a:ea typeface="Trebuchet MS"/>
                <a:cs typeface="Trebuchet MS"/>
                <a:sym typeface="Trebuchet MS"/>
              </a:rPr>
              <a:t>INTERMISSION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8211312" y="11887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04A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55504A"/>
                </a:solidFill>
                <a:latin typeface="Georgia"/>
                <a:ea typeface="Georgia"/>
                <a:cs typeface="Georgia"/>
                <a:sym typeface="Georgia"/>
              </a:rPr>
              <a:t>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0" y="4759452"/>
            <a:ext cx="9144000" cy="7315"/>
          </a:xfrm>
          <a:prstGeom prst="rect">
            <a:avLst/>
          </a:prstGeom>
          <a:solidFill>
            <a:srgbClr val="3A3530"/>
          </a:solidFill>
          <a:ln cap="flat" cmpd="sng" w="12700">
            <a:solidFill>
              <a:srgbClr val="3A3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475488" y="482346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53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3A3530"/>
                </a:solidFill>
                <a:latin typeface="Trebuchet MS"/>
                <a:ea typeface="Trebuchet MS"/>
                <a:cs typeface="Trebuchet MS"/>
                <a:sym typeface="Trebuchet MS"/>
              </a:rPr>
              <a:t>LEO  ·  SID  ·  ANIRUDH  ·  ISHITA  ·  KINHKHA  ·  BUMAN-ERDEM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3657600" y="482346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A353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3A3530"/>
                </a:solidFill>
                <a:latin typeface="Trebuchet MS"/>
                <a:ea typeface="Trebuchet MS"/>
                <a:cs typeface="Trebuchet MS"/>
                <a:sym typeface="Trebuchet MS"/>
              </a:rPr>
              <a:t>FIN  ·  07  </a:t>
            </a:r>
            <a:r>
              <a:rPr b="0" i="0" lang="en-US" sz="800" u="none" cap="none" strike="noStrike">
                <a:solidFill>
                  <a:srgbClr val="B83A2A"/>
                </a:solidFill>
                <a:latin typeface="Trebuchet MS"/>
                <a:ea typeface="Trebuchet MS"/>
                <a:cs typeface="Trebuchet MS"/>
                <a:sym typeface="Trebuchet MS"/>
              </a:rPr>
              <a:t>•</a:t>
            </a:r>
            <a:r>
              <a:rPr b="0" i="0" lang="en-US" sz="800" u="none" cap="none" strike="noStrike">
                <a:solidFill>
                  <a:srgbClr val="3A3530"/>
                </a:solidFill>
                <a:latin typeface="Trebuchet MS"/>
                <a:ea typeface="Trebuchet MS"/>
                <a:cs typeface="Trebuchet MS"/>
                <a:sym typeface="Trebuchet MS"/>
              </a:rPr>
              <a:t>  CS 620  ·  SPRING 2026  ·  UW–MADISON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475488" y="5669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860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706860"/>
                </a:solidFill>
                <a:latin typeface="Trebuchet MS"/>
                <a:ea typeface="Trebuchet MS"/>
                <a:cs typeface="Trebuchet MS"/>
                <a:sym typeface="Trebuchet MS"/>
              </a:rPr>
              <a:t>LIVE DEMO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75488" y="804672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1EB"/>
              </a:buClr>
              <a:buSzPts val="8000"/>
              <a:buFont typeface="Georgia"/>
              <a:buNone/>
            </a:pPr>
            <a:r>
              <a:rPr b="0" i="0" lang="en-US" sz="8000" u="none" cap="none" strike="noStrike">
                <a:solidFill>
                  <a:srgbClr val="F5F1EB"/>
                </a:solidFill>
                <a:latin typeface="Georgia"/>
                <a:ea typeface="Georgia"/>
                <a:cs typeface="Georgia"/>
                <a:sym typeface="Georgia"/>
              </a:rPr>
              <a:t>One round.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75488" y="187452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3A2A"/>
              </a:buClr>
              <a:buSzPts val="8000"/>
              <a:buFont typeface="Georgia"/>
              <a:buNone/>
            </a:pPr>
            <a:r>
              <a:rPr b="0" i="1" lang="en-US" sz="8000" u="none" cap="none" strike="noStrike">
                <a:solidFill>
                  <a:srgbClr val="B83A2A"/>
                </a:solidFill>
                <a:latin typeface="Georgia"/>
                <a:ea typeface="Georgia"/>
                <a:cs typeface="Georgia"/>
                <a:sym typeface="Georgia"/>
              </a:rPr>
              <a:t>Live.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BE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/>
          <p:nvPr/>
        </p:nvSpPr>
        <p:spPr>
          <a:xfrm>
            <a:off x="0" y="384048"/>
            <a:ext cx="9144000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475488" y="1188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CHAPTER III  ·  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8211312" y="11887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C2BB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C8C2BB"/>
                </a:solidFill>
                <a:latin typeface="Georgia"/>
                <a:ea typeface="Georgia"/>
                <a:cs typeface="Georgia"/>
                <a:sym typeface="Georgia"/>
              </a:rPr>
              <a:t>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0" y="4759452"/>
            <a:ext cx="9144000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475488" y="48234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SHOPBOP SHOWDOWN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3200400" y="48234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FEATURES  </a:t>
            </a:r>
            <a:r>
              <a:rPr b="0" i="0" lang="en-US" sz="850" u="none" cap="none" strike="noStrike">
                <a:solidFill>
                  <a:srgbClr val="B83A2A"/>
                </a:solidFill>
                <a:latin typeface="Trebuchet MS"/>
                <a:ea typeface="Trebuchet MS"/>
                <a:cs typeface="Trebuchet MS"/>
                <a:sym typeface="Trebuchet MS"/>
              </a:rPr>
              <a:t>•</a:t>
            </a: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  08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5925312" y="48234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CS 620  ·  SPRING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475488" y="5669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KEY FEATURES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475488" y="804672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Built for engagement, fairness &amp; fun.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75488" y="1508760"/>
            <a:ext cx="4224528" cy="1463040"/>
          </a:xfrm>
          <a:prstGeom prst="rect">
            <a:avLst/>
          </a:prstGeom>
          <a:solidFill>
            <a:srgbClr val="EDE8DE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6642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/>
          <p:nvPr/>
        </p:nvSpPr>
        <p:spPr>
          <a:xfrm>
            <a:off x="1024128" y="166420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Outfit Builder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640080" y="2039112"/>
            <a:ext cx="3895344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640080" y="2103120"/>
            <a:ext cx="3895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3A2A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B83A2A"/>
                </a:solidFill>
                <a:latin typeface="Georgia"/>
                <a:ea typeface="Georgia"/>
                <a:cs typeface="Georgia"/>
                <a:sym typeface="Georgia"/>
              </a:rPr>
              <a:t>·  </a:t>
            </a:r>
            <a:r>
              <a:rPr b="0" i="0" lang="en-US" sz="1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Live ShopBop product feed by category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640080" y="2377440"/>
            <a:ext cx="3895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3A2A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B83A2A"/>
                </a:solidFill>
                <a:latin typeface="Georgia"/>
                <a:ea typeface="Georgia"/>
                <a:cs typeface="Georgia"/>
                <a:sym typeface="Georgia"/>
              </a:rPr>
              <a:t>·  </a:t>
            </a:r>
            <a:r>
              <a:rPr b="0" i="0" lang="en-US" sz="1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Real-time budget tracker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640080" y="2651760"/>
            <a:ext cx="3895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3A2A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B83A2A"/>
                </a:solidFill>
                <a:latin typeface="Georgia"/>
                <a:ea typeface="Georgia"/>
                <a:cs typeface="Georgia"/>
                <a:sym typeface="Georgia"/>
              </a:rPr>
              <a:t>·  </a:t>
            </a:r>
            <a:r>
              <a:rPr b="0" i="0" lang="en-US" sz="1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Countdown timer creates urgency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4882896" y="1508760"/>
            <a:ext cx="4224528" cy="1463040"/>
          </a:xfrm>
          <a:prstGeom prst="rect">
            <a:avLst/>
          </a:prstGeom>
          <a:solidFill>
            <a:srgbClr val="EDE8DE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7488" y="16642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/>
          <p:nvPr/>
        </p:nvSpPr>
        <p:spPr>
          <a:xfrm>
            <a:off x="5431536" y="166420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AI Virtual Try-On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5047488" y="2039112"/>
            <a:ext cx="3895344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5047488" y="2103120"/>
            <a:ext cx="3895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3A2A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B83A2A"/>
                </a:solidFill>
                <a:latin typeface="Georgia"/>
                <a:ea typeface="Georgia"/>
                <a:cs typeface="Georgia"/>
                <a:sym typeface="Georgia"/>
              </a:rPr>
              <a:t>·  </a:t>
            </a:r>
            <a:r>
              <a:rPr b="0" i="0" lang="en-US" sz="1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Powered by Google Gemini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5047488" y="2377440"/>
            <a:ext cx="3895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3A2A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B83A2A"/>
                </a:solidFill>
                <a:latin typeface="Georgia"/>
                <a:ea typeface="Georgia"/>
                <a:cs typeface="Georgia"/>
                <a:sym typeface="Georgia"/>
              </a:rPr>
              <a:t>·  </a:t>
            </a:r>
            <a:r>
              <a:rPr b="0" i="0" lang="en-US" sz="1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Composites items into outfit preview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5047488" y="2651760"/>
            <a:ext cx="3895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3A2A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B83A2A"/>
                </a:solidFill>
                <a:latin typeface="Georgia"/>
                <a:ea typeface="Georgia"/>
                <a:cs typeface="Georgia"/>
                <a:sym typeface="Georgia"/>
              </a:rPr>
              <a:t>·  </a:t>
            </a:r>
            <a:r>
              <a:rPr b="0" i="0" lang="en-US" sz="1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Server-side, no client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475488" y="3172968"/>
            <a:ext cx="4224528" cy="1463040"/>
          </a:xfrm>
          <a:prstGeom prst="rect">
            <a:avLst/>
          </a:prstGeom>
          <a:solidFill>
            <a:srgbClr val="EDE8DE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32841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9"/>
          <p:cNvSpPr/>
          <p:nvPr/>
        </p:nvSpPr>
        <p:spPr>
          <a:xfrm>
            <a:off x="1024128" y="3328416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Blind Voting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640080" y="3703320"/>
            <a:ext cx="3895344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640080" y="3767328"/>
            <a:ext cx="3895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3A2A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B83A2A"/>
                </a:solidFill>
                <a:latin typeface="Georgia"/>
                <a:ea typeface="Georgia"/>
                <a:cs typeface="Georgia"/>
                <a:sym typeface="Georgia"/>
              </a:rPr>
              <a:t>·  </a:t>
            </a:r>
            <a:r>
              <a:rPr b="0" i="0" lang="en-US" sz="1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Creator identities hidden during voting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640080" y="4041648"/>
            <a:ext cx="3895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3A2A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B83A2A"/>
                </a:solidFill>
                <a:latin typeface="Georgia"/>
                <a:ea typeface="Georgia"/>
                <a:cs typeface="Georgia"/>
                <a:sym typeface="Georgia"/>
              </a:rPr>
              <a:t>·  </a:t>
            </a:r>
            <a:r>
              <a:rPr b="0" i="0" lang="en-US" sz="1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Prevents popularity bias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40080" y="4315968"/>
            <a:ext cx="3895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3A2A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B83A2A"/>
                </a:solidFill>
                <a:latin typeface="Georgia"/>
                <a:ea typeface="Georgia"/>
                <a:cs typeface="Georgia"/>
                <a:sym typeface="Georgia"/>
              </a:rPr>
              <a:t>·  </a:t>
            </a:r>
            <a:r>
              <a:rPr b="0" i="0" lang="en-US" sz="1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Forces merit-based judging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4882896" y="3172968"/>
            <a:ext cx="4224528" cy="1463040"/>
          </a:xfrm>
          <a:prstGeom prst="rect">
            <a:avLst/>
          </a:prstGeom>
          <a:solidFill>
            <a:srgbClr val="EDE8DE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7488" y="332841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9"/>
          <p:cNvSpPr/>
          <p:nvPr/>
        </p:nvSpPr>
        <p:spPr>
          <a:xfrm>
            <a:off x="5431536" y="3328416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Admin Analytics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5047488" y="3703320"/>
            <a:ext cx="3895344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5047488" y="3767328"/>
            <a:ext cx="3895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3A2A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B83A2A"/>
                </a:solidFill>
                <a:latin typeface="Georgia"/>
                <a:ea typeface="Georgia"/>
                <a:cs typeface="Georgia"/>
                <a:sym typeface="Georgia"/>
              </a:rPr>
              <a:t>·  </a:t>
            </a:r>
            <a:r>
              <a:rPr b="0" i="0" lang="en-US" sz="1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Live game stats &amp; product popularity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5047488" y="4041648"/>
            <a:ext cx="3895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3A2A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B83A2A"/>
                </a:solidFill>
                <a:latin typeface="Georgia"/>
                <a:ea typeface="Georgia"/>
                <a:cs typeface="Georgia"/>
                <a:sym typeface="Georgia"/>
              </a:rPr>
              <a:t>·  </a:t>
            </a:r>
            <a:r>
              <a:rPr b="0" i="0" lang="en-US" sz="1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Outfit performance tracking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047488" y="4315968"/>
            <a:ext cx="3895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3A2A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B83A2A"/>
                </a:solidFill>
                <a:latin typeface="Georgia"/>
                <a:ea typeface="Georgia"/>
                <a:cs typeface="Georgia"/>
                <a:sym typeface="Georgia"/>
              </a:rPr>
              <a:t>·  </a:t>
            </a:r>
            <a:r>
              <a:rPr b="0" i="0" lang="en-US" sz="1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HTTP Basic Auth protected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BE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/>
          <p:nvPr/>
        </p:nvSpPr>
        <p:spPr>
          <a:xfrm>
            <a:off x="0" y="384048"/>
            <a:ext cx="9144000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475488" y="1188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CHAPTER IV  · 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8211312" y="11887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C2BB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C8C2BB"/>
                </a:solidFill>
                <a:latin typeface="Georgia"/>
                <a:ea typeface="Georgia"/>
                <a:cs typeface="Georgia"/>
                <a:sym typeface="Georgia"/>
              </a:rPr>
              <a:t>09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0" y="4759452"/>
            <a:ext cx="9144000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475488" y="48234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SHOPBOP SHOWDOWN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3200400" y="48234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  </a:t>
            </a:r>
            <a:r>
              <a:rPr b="0" i="0" lang="en-US" sz="850" u="none" cap="none" strike="noStrike">
                <a:solidFill>
                  <a:srgbClr val="B83A2A"/>
                </a:solidFill>
                <a:latin typeface="Trebuchet MS"/>
                <a:ea typeface="Trebuchet MS"/>
                <a:cs typeface="Trebuchet MS"/>
                <a:sym typeface="Trebuchet MS"/>
              </a:rPr>
              <a:t>•</a:t>
            </a: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  09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5925312" y="48234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CS 620  ·  SPRING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75488" y="5669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ARCHITECTURE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475488" y="804672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Full-Stack System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475488" y="1417320"/>
            <a:ext cx="4114800" cy="658368"/>
          </a:xfrm>
          <a:prstGeom prst="rect">
            <a:avLst/>
          </a:prstGeom>
          <a:solidFill>
            <a:srgbClr val="EDE8DE"/>
          </a:solidFill>
          <a:ln cap="flat" cmpd="sng" w="25400">
            <a:solidFill>
              <a:srgbClr val="9B3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475488" y="1417320"/>
            <a:ext cx="4114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Browser (React + Vite)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1207008" y="207568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8C8680"/>
                </a:solidFill>
                <a:latin typeface="Georgia"/>
                <a:ea typeface="Georgia"/>
                <a:cs typeface="Georgia"/>
                <a:sym typeface="Georgia"/>
              </a:rPr>
              <a:t>⇕  REST + Socket.IO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475488" y="2350008"/>
            <a:ext cx="4114800" cy="658368"/>
          </a:xfrm>
          <a:prstGeom prst="rect">
            <a:avLst/>
          </a:prstGeom>
          <a:solidFill>
            <a:srgbClr val="EDE8DE"/>
          </a:solidFill>
          <a:ln cap="flat" cmpd="sng" w="25400">
            <a:solidFill>
              <a:srgbClr val="3A4A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475488" y="2349958"/>
            <a:ext cx="4114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Node.js / Express Backend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1207008" y="300837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8C8680"/>
                </a:solidFill>
                <a:latin typeface="Georgia"/>
                <a:ea typeface="Georgia"/>
                <a:cs typeface="Georgia"/>
                <a:sym typeface="Georgia"/>
              </a:rPr>
              <a:t>⇕  </a:t>
            </a:r>
            <a:r>
              <a:rPr i="1" lang="en-US" sz="1000">
                <a:solidFill>
                  <a:srgbClr val="8C8680"/>
                </a:solidFill>
                <a:latin typeface="Georgia"/>
                <a:ea typeface="Georgia"/>
                <a:cs typeface="Georgia"/>
                <a:sym typeface="Georgia"/>
              </a:rPr>
              <a:t>Lambda invoke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475488" y="3282696"/>
            <a:ext cx="4114800" cy="658368"/>
          </a:xfrm>
          <a:prstGeom prst="rect">
            <a:avLst/>
          </a:prstGeom>
          <a:solidFill>
            <a:srgbClr val="EDE8DE"/>
          </a:solidFill>
          <a:ln cap="flat" cmpd="sng" w="25400">
            <a:solidFill>
              <a:srgbClr val="2A7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475488" y="3282696"/>
            <a:ext cx="4114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400"/>
              <a:buFont typeface="Georgia"/>
              <a:buNone/>
            </a:pPr>
            <a:r>
              <a:rPr b="1" lang="en-US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AWS Lambda</a:t>
            </a:r>
            <a:r>
              <a:rPr b="1" i="0" lang="en-US" sz="14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  (AI Try-On)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5212150" y="2253588"/>
            <a:ext cx="2305500" cy="549000"/>
          </a:xfrm>
          <a:prstGeom prst="rect">
            <a:avLst/>
          </a:prstGeom>
          <a:solidFill>
            <a:srgbClr val="EDE8DE"/>
          </a:solidFill>
          <a:ln cap="flat" cmpd="sng" w="25400">
            <a:solidFill>
              <a:srgbClr val="8C6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5212150" y="2299701"/>
            <a:ext cx="2305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ShopBop Product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4663450" y="2556675"/>
            <a:ext cx="384000" cy="7200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4937953" y="2445112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3A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3A2A"/>
                </a:solidFill>
                <a:latin typeface="Calibri"/>
                <a:ea typeface="Calibri"/>
                <a:cs typeface="Calibri"/>
                <a:sym typeface="Calibri"/>
              </a:rPr>
              <a:t>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663440" y="2880360"/>
            <a:ext cx="4023360" cy="292608"/>
          </a:xfrm>
          <a:prstGeom prst="rect">
            <a:avLst/>
          </a:prstGeom>
          <a:solidFill>
            <a:srgbClr val="B83A2A"/>
          </a:solidFill>
          <a:ln cap="flat" cmpd="sng" w="12700">
            <a:solidFill>
              <a:srgbClr val="B83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4709160" y="288036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1EB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5F1EB"/>
                </a:solidFill>
                <a:latin typeface="Trebuchet MS"/>
                <a:ea typeface="Trebuchet MS"/>
                <a:cs typeface="Trebuchet MS"/>
                <a:sym typeface="Trebuchet MS"/>
              </a:rPr>
              <a:t>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6172200" y="288036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1EB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5F1EB"/>
                </a:solidFill>
                <a:latin typeface="Trebuchet MS"/>
                <a:ea typeface="Trebuchet MS"/>
                <a:cs typeface="Trebuchet MS"/>
                <a:sym typeface="Trebuchet MS"/>
              </a:rPr>
              <a:t>Technology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663440" y="3172968"/>
            <a:ext cx="4023360" cy="310896"/>
          </a:xfrm>
          <a:prstGeom prst="rect">
            <a:avLst/>
          </a:prstGeom>
          <a:solidFill>
            <a:srgbClr val="EDE8DE"/>
          </a:solidFill>
          <a:ln cap="flat" cmpd="sng" w="9525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4709160" y="3172968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6172200" y="3172968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8C8680"/>
                </a:solidFill>
                <a:latin typeface="Georgia"/>
                <a:ea typeface="Georgia"/>
                <a:cs typeface="Georgia"/>
                <a:sym typeface="Georgia"/>
              </a:rPr>
              <a:t>React 18, Vite, Zustand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4663440" y="3483864"/>
            <a:ext cx="4023360" cy="310896"/>
          </a:xfrm>
          <a:prstGeom prst="rect">
            <a:avLst/>
          </a:prstGeom>
          <a:solidFill>
            <a:srgbClr val="F0EBE1"/>
          </a:solidFill>
          <a:ln cap="flat" cmpd="sng" w="9525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4709160" y="3483864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Routing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6172200" y="3483864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8C8680"/>
                </a:solidFill>
                <a:latin typeface="Georgia"/>
                <a:ea typeface="Georgia"/>
                <a:cs typeface="Georgia"/>
                <a:sym typeface="Georgia"/>
              </a:rPr>
              <a:t>React Router v6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4663440" y="3794760"/>
            <a:ext cx="4023360" cy="310896"/>
          </a:xfrm>
          <a:prstGeom prst="rect">
            <a:avLst/>
          </a:prstGeom>
          <a:solidFill>
            <a:srgbClr val="EDE8DE"/>
          </a:solidFill>
          <a:ln cap="flat" cmpd="sng" w="9525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4709160" y="3794760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Backend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6172200" y="3794760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8C8680"/>
                </a:solidFill>
                <a:latin typeface="Georgia"/>
                <a:ea typeface="Georgia"/>
                <a:cs typeface="Georgia"/>
                <a:sym typeface="Georgia"/>
              </a:rPr>
              <a:t>Node.js, Express + AWS Lambda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4663440" y="4105656"/>
            <a:ext cx="4023360" cy="310896"/>
          </a:xfrm>
          <a:prstGeom prst="rect">
            <a:avLst/>
          </a:prstGeom>
          <a:solidFill>
            <a:srgbClr val="F0EBE1"/>
          </a:solidFill>
          <a:ln cap="flat" cmpd="sng" w="9525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4709160" y="4105656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Real-time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6172200" y="4105656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8C8680"/>
                </a:solidFill>
                <a:latin typeface="Georgia"/>
                <a:ea typeface="Georgia"/>
                <a:cs typeface="Georgia"/>
                <a:sym typeface="Georgia"/>
              </a:rPr>
              <a:t>Socket.IO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4663440" y="4416552"/>
            <a:ext cx="4023360" cy="310896"/>
          </a:xfrm>
          <a:prstGeom prst="rect">
            <a:avLst/>
          </a:prstGeom>
          <a:solidFill>
            <a:srgbClr val="EDE8DE"/>
          </a:solidFill>
          <a:ln cap="flat" cmpd="sng" w="9525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4709160" y="4416552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AI Try-</a:t>
            </a:r>
            <a:r>
              <a:rPr lang="en-US" sz="1100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6172200" y="4416552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1100"/>
              <a:buFont typeface="Georgia"/>
              <a:buNone/>
            </a:pPr>
            <a:r>
              <a:rPr lang="en-US" sz="1100">
                <a:solidFill>
                  <a:srgbClr val="8C8680"/>
                </a:solidFill>
                <a:latin typeface="Georgia"/>
                <a:ea typeface="Georgia"/>
                <a:cs typeface="Georgia"/>
                <a:sym typeface="Georgia"/>
              </a:rPr>
              <a:t>Lambda → Gemini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4663440" y="4727448"/>
            <a:ext cx="4023360" cy="310896"/>
          </a:xfrm>
          <a:prstGeom prst="rect">
            <a:avLst/>
          </a:prstGeom>
          <a:solidFill>
            <a:srgbClr val="F0EBE1"/>
          </a:solidFill>
          <a:ln cap="flat" cmpd="sng" w="9525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4709160" y="4727448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Data</a:t>
            </a:r>
            <a:r>
              <a:rPr lang="en-US" sz="1100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6172200" y="4727448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1100"/>
              <a:buFont typeface="Georgia"/>
              <a:buNone/>
            </a:pPr>
            <a:r>
              <a:rPr lang="en-US" sz="1100">
                <a:solidFill>
                  <a:srgbClr val="8C8680"/>
                </a:solidFill>
                <a:latin typeface="Georgia"/>
                <a:ea typeface="Georgia"/>
                <a:cs typeface="Georgia"/>
                <a:sym typeface="Georgia"/>
              </a:rPr>
              <a:t>AWS DynamoDB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987163" y="41578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300"/>
              <a:buFont typeface="Georgia"/>
              <a:buNone/>
            </a:pPr>
            <a:r>
              <a:rPr b="1" lang="en-US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Google Gemini API</a:t>
            </a:r>
            <a:endParaRPr sz="1500"/>
          </a:p>
        </p:txBody>
      </p:sp>
      <p:sp>
        <p:nvSpPr>
          <p:cNvPr id="228" name="Google Shape;228;p10"/>
          <p:cNvSpPr/>
          <p:nvPr/>
        </p:nvSpPr>
        <p:spPr>
          <a:xfrm>
            <a:off x="1252808" y="3966951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8C8680"/>
                </a:solidFill>
                <a:latin typeface="Georgia"/>
                <a:ea typeface="Georgia"/>
                <a:cs typeface="Georgia"/>
                <a:sym typeface="Georgia"/>
              </a:rPr>
              <a:t>⇕  </a:t>
            </a:r>
            <a:r>
              <a:rPr i="1" lang="en-US" sz="1000">
                <a:solidFill>
                  <a:srgbClr val="8C8680"/>
                </a:solidFill>
                <a:latin typeface="Georgia"/>
                <a:ea typeface="Georgia"/>
                <a:cs typeface="Georgia"/>
                <a:sym typeface="Georgia"/>
              </a:rPr>
              <a:t>Gemini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BE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/>
          <p:nvPr/>
        </p:nvSpPr>
        <p:spPr>
          <a:xfrm>
            <a:off x="0" y="384048"/>
            <a:ext cx="9144000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475488" y="1188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CHAPTER V  ·  ENGINEERING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8211312" y="11887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C2BB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C8C2BB"/>
                </a:solidFill>
                <a:latin typeface="Georgia"/>
                <a:ea typeface="Georgia"/>
                <a:cs typeface="Georgia"/>
                <a:sym typeface="Georgia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0" y="4759452"/>
            <a:ext cx="9144000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475488" y="48234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SHOPBOP SHOWDOWN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3200400" y="48234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CHALLENGES  </a:t>
            </a:r>
            <a:r>
              <a:rPr b="0" i="0" lang="en-US" sz="850" u="none" cap="none" strike="noStrike">
                <a:solidFill>
                  <a:srgbClr val="B83A2A"/>
                </a:solidFill>
                <a:latin typeface="Trebuchet MS"/>
                <a:ea typeface="Trebuchet MS"/>
                <a:cs typeface="Trebuchet MS"/>
                <a:sym typeface="Trebuchet MS"/>
              </a:rPr>
              <a:t>•</a:t>
            </a: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  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5925312" y="48234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CS 620  ·  SPRING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475488" y="5669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CHALLENGES  &amp;  SOLUTIONS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475488" y="804672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Real problems, real solutions.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566928" y="17373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CHALLENGE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4937760" y="146304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HOW WE SOLVED 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475488" y="1709928"/>
            <a:ext cx="8193024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475488" y="1764792"/>
            <a:ext cx="4023360" cy="475488"/>
          </a:xfrm>
          <a:prstGeom prst="rect">
            <a:avLst/>
          </a:prstGeom>
          <a:solidFill>
            <a:srgbClr val="EDE8DE"/>
          </a:solidFill>
          <a:ln cap="flat" cmpd="sng" w="9525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585216" y="1819656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ShopBop image URLs are relative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4160520" y="18196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3A2A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B83A2A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4572000" y="1764792"/>
            <a:ext cx="4206240" cy="475488"/>
          </a:xfrm>
          <a:prstGeom prst="rect">
            <a:avLst/>
          </a:prstGeom>
          <a:solidFill>
            <a:srgbClr val="E8EDE8"/>
          </a:solidFill>
          <a:ln cap="flat" cmpd="sng" w="9525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4681728" y="1819656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Backend normalizeProduct() rewrites to full CDN URLs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475488" y="2340864"/>
            <a:ext cx="4023360" cy="475488"/>
          </a:xfrm>
          <a:prstGeom prst="rect">
            <a:avLst/>
          </a:prstGeom>
          <a:solidFill>
            <a:srgbClr val="EDE8DE"/>
          </a:solidFill>
          <a:ln cap="flat" cmpd="sng" w="9525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585216" y="2395728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AI try-on latency (3–8 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4160520" y="23957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3A2A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B83A2A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4572000" y="2340864"/>
            <a:ext cx="4206240" cy="475488"/>
          </a:xfrm>
          <a:prstGeom prst="rect">
            <a:avLst/>
          </a:prstGeom>
          <a:solidFill>
            <a:srgbClr val="E8EDE8"/>
          </a:solidFill>
          <a:ln cap="flat" cmpd="sng" w="9525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4681728" y="2395728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Non-blocking generation; UI shows spinner, reveals on ready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475488" y="2916936"/>
            <a:ext cx="4023360" cy="475488"/>
          </a:xfrm>
          <a:prstGeom prst="rect">
            <a:avLst/>
          </a:prstGeom>
          <a:solidFill>
            <a:srgbClr val="EDE8DE"/>
          </a:solidFill>
          <a:ln cap="flat" cmpd="sng" w="9525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585216" y="297180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Race conditions in voting phase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4160520" y="29718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3A2A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B83A2A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4572000" y="2916936"/>
            <a:ext cx="4206240" cy="475488"/>
          </a:xfrm>
          <a:prstGeom prst="rect">
            <a:avLst/>
          </a:prstGeom>
          <a:solidFill>
            <a:srgbClr val="E8EDE8"/>
          </a:solidFill>
          <a:ln cap="flat" cmpd="sng" w="9525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4681728" y="297180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Server enforces phase transitions; clients follow server state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475488" y="3493008"/>
            <a:ext cx="4023360" cy="475488"/>
          </a:xfrm>
          <a:prstGeom prst="rect">
            <a:avLst/>
          </a:prstGeom>
          <a:solidFill>
            <a:srgbClr val="EDE8DE"/>
          </a:solidFill>
          <a:ln cap="flat" cmpd="sng" w="9525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585216" y="3547872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Anonymous outfits during voting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4160520" y="35478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3A2A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B83A2A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4572000" y="3493008"/>
            <a:ext cx="4206240" cy="475488"/>
          </a:xfrm>
          <a:prstGeom prst="rect">
            <a:avLst/>
          </a:prstGeom>
          <a:solidFill>
            <a:srgbClr val="E8EDE8"/>
          </a:solidFill>
          <a:ln cap="flat" cmpd="sng" w="9525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4681728" y="3547872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Outfits API strips player identity until COMPLETED phase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475488" y="4069080"/>
            <a:ext cx="4023360" cy="475488"/>
          </a:xfrm>
          <a:prstGeom prst="rect">
            <a:avLst/>
          </a:prstGeom>
          <a:solidFill>
            <a:srgbClr val="EDE8DE"/>
          </a:solidFill>
          <a:ln cap="flat" cmpd="sng" w="9525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585216" y="4123944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Polling vs. WebSockets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4160520" y="41239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3A2A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B83A2A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4572000" y="4069080"/>
            <a:ext cx="4206240" cy="475488"/>
          </a:xfrm>
          <a:prstGeom prst="rect">
            <a:avLst/>
          </a:prstGeom>
          <a:solidFill>
            <a:srgbClr val="E8EDE8"/>
          </a:solidFill>
          <a:ln cap="flat" cmpd="sng" w="9525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4681728" y="4123944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Lobby uses 2.5 s polling; in-game events use Socket.IO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BE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"/>
          <p:cNvSpPr/>
          <p:nvPr/>
        </p:nvSpPr>
        <p:spPr>
          <a:xfrm>
            <a:off x="0" y="384048"/>
            <a:ext cx="9144000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475488" y="1188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CHAPTER VI  ·  LESSONS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8211312" y="11887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C2BB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C8C2BB"/>
                </a:solidFill>
                <a:latin typeface="Georgia"/>
                <a:ea typeface="Georgia"/>
                <a:cs typeface="Georgia"/>
                <a:sym typeface="Georgia"/>
              </a:rPr>
              <a:t>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0" y="4759452"/>
            <a:ext cx="9144000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475488" y="48234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SHOPBOP SHOWDOWN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3200400" y="48234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TAKEAWAYS  </a:t>
            </a:r>
            <a:r>
              <a:rPr b="0" i="0" lang="en-US" sz="850" u="none" cap="none" strike="noStrike">
                <a:solidFill>
                  <a:srgbClr val="B83A2A"/>
                </a:solidFill>
                <a:latin typeface="Trebuchet MS"/>
                <a:ea typeface="Trebuchet MS"/>
                <a:cs typeface="Trebuchet MS"/>
                <a:sym typeface="Trebuchet MS"/>
              </a:rPr>
              <a:t>•</a:t>
            </a: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  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5925312" y="48234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CS 620  ·  SPRING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475488" y="5669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680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8C8680"/>
                </a:solidFill>
                <a:latin typeface="Trebuchet MS"/>
                <a:ea typeface="Trebuchet MS"/>
                <a:cs typeface="Trebuchet MS"/>
                <a:sym typeface="Trebuchet MS"/>
              </a:rPr>
              <a:t>CLASS TAKEAWAYS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475488" y="804672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What we learned beyond the code.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475488" y="1417320"/>
            <a:ext cx="4224528" cy="1463040"/>
          </a:xfrm>
          <a:prstGeom prst="rect">
            <a:avLst/>
          </a:prstGeom>
          <a:solidFill>
            <a:srgbClr val="EDE8DE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6" name="Google Shape;28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727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2"/>
          <p:cNvSpPr/>
          <p:nvPr/>
        </p:nvSpPr>
        <p:spPr>
          <a:xfrm>
            <a:off x="1024128" y="157276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Working with an Industry Partner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640080" y="1947672"/>
            <a:ext cx="3895344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640080" y="2020824"/>
            <a:ext cx="3895344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Real constraints: API rate limits, undocumented response shapes. Stakeholder communication matters as much as code.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4882900" y="1417325"/>
            <a:ext cx="4059900" cy="1463100"/>
          </a:xfrm>
          <a:prstGeom prst="rect">
            <a:avLst/>
          </a:prstGeom>
          <a:solidFill>
            <a:srgbClr val="EDE8DE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1" name="Google Shape;29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7488" y="15727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2"/>
          <p:cNvSpPr/>
          <p:nvPr/>
        </p:nvSpPr>
        <p:spPr>
          <a:xfrm>
            <a:off x="5431536" y="157276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Agile in Practice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4965238" y="1953222"/>
            <a:ext cx="3895200" cy="7200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5047488" y="2020824"/>
            <a:ext cx="3895344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Scrum roles add accountability, not just overhead. Velocity improves when stories are small and independently deployable.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475488" y="3081528"/>
            <a:ext cx="4224528" cy="1463040"/>
          </a:xfrm>
          <a:prstGeom prst="rect">
            <a:avLst/>
          </a:prstGeom>
          <a:solidFill>
            <a:srgbClr val="EDE8DE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6" name="Google Shape;29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23697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2"/>
          <p:cNvSpPr/>
          <p:nvPr/>
        </p:nvSpPr>
        <p:spPr>
          <a:xfrm>
            <a:off x="1024128" y="3236976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Full-Stack Systems Thinking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640080" y="3611880"/>
            <a:ext cx="3895344" cy="7315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640080" y="3685032"/>
            <a:ext cx="3895344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Frontend and backend must agree on contracts early. State machines prevent entire classes of bugs.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4882900" y="3081625"/>
            <a:ext cx="4059900" cy="1463100"/>
          </a:xfrm>
          <a:prstGeom prst="rect">
            <a:avLst/>
          </a:prstGeom>
          <a:solidFill>
            <a:srgbClr val="EDE8DE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1" name="Google Shape;30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7488" y="323697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2"/>
          <p:cNvSpPr/>
          <p:nvPr/>
        </p:nvSpPr>
        <p:spPr>
          <a:xfrm>
            <a:off x="5431536" y="3236976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AI Integration is an API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4965176" y="3617368"/>
            <a:ext cx="3895200" cy="7200"/>
          </a:xfrm>
          <a:prstGeom prst="rect">
            <a:avLst/>
          </a:prstGeom>
          <a:solidFill>
            <a:srgbClr val="C8C2BB"/>
          </a:solidFill>
          <a:ln cap="flat" cmpd="sng" w="12700">
            <a:solidFill>
              <a:srgbClr val="C8C2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5047488" y="3685032"/>
            <a:ext cx="3895344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1A1714"/>
                </a:solidFill>
                <a:latin typeface="Georgia"/>
                <a:ea typeface="Georgia"/>
                <a:cs typeface="Georgia"/>
                <a:sym typeface="Georgia"/>
              </a:rPr>
              <a:t>Gemini try-on is a prompt-engineering + latency challenge. Wrap AI calls behind your own API so the frontend never depends on provider specifics.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210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"/>
          <p:cNvSpPr/>
          <p:nvPr/>
        </p:nvSpPr>
        <p:spPr>
          <a:xfrm>
            <a:off x="0" y="384048"/>
            <a:ext cx="9144000" cy="7315"/>
          </a:xfrm>
          <a:prstGeom prst="rect">
            <a:avLst/>
          </a:prstGeom>
          <a:solidFill>
            <a:srgbClr val="3A3530"/>
          </a:solidFill>
          <a:ln cap="flat" cmpd="sng" w="12700">
            <a:solidFill>
              <a:srgbClr val="3A3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"/>
          <p:cNvSpPr/>
          <p:nvPr/>
        </p:nvSpPr>
        <p:spPr>
          <a:xfrm>
            <a:off x="475488" y="1188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04A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55504A"/>
                </a:solidFill>
                <a:latin typeface="Trebuchet MS"/>
                <a:ea typeface="Trebuchet MS"/>
                <a:cs typeface="Trebuchet MS"/>
                <a:sym typeface="Trebuchet MS"/>
              </a:rPr>
              <a:t>FIN.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8211312" y="11887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04A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55504A"/>
                </a:solidFill>
                <a:latin typeface="Georgia"/>
                <a:ea typeface="Georgia"/>
                <a:cs typeface="Georgia"/>
                <a:sym typeface="Georgia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0" y="4759452"/>
            <a:ext cx="9144000" cy="7315"/>
          </a:xfrm>
          <a:prstGeom prst="rect">
            <a:avLst/>
          </a:prstGeom>
          <a:solidFill>
            <a:srgbClr val="3A3530"/>
          </a:solidFill>
          <a:ln cap="flat" cmpd="sng" w="12700">
            <a:solidFill>
              <a:srgbClr val="3A3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475488" y="4823460"/>
            <a:ext cx="81930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53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3A3530"/>
                </a:solidFill>
                <a:latin typeface="Trebuchet MS"/>
                <a:ea typeface="Trebuchet MS"/>
                <a:cs typeface="Trebuchet MS"/>
                <a:sym typeface="Trebuchet MS"/>
              </a:rPr>
              <a:t>LEO  ·  SID  ·  ANIRUDH  ·  ISHITA  ·  KINHKHA  ·  BUMAN-ERDEM     FIN  ·  12  </a:t>
            </a:r>
            <a:r>
              <a:rPr b="0" i="0" lang="en-US" sz="800" u="none" cap="none" strike="noStrike">
                <a:solidFill>
                  <a:srgbClr val="B83A2A"/>
                </a:solidFill>
                <a:latin typeface="Trebuchet MS"/>
                <a:ea typeface="Trebuchet MS"/>
                <a:cs typeface="Trebuchet MS"/>
                <a:sym typeface="Trebuchet MS"/>
              </a:rPr>
              <a:t>•</a:t>
            </a:r>
            <a:r>
              <a:rPr b="0" i="0" lang="en-US" sz="800" u="none" cap="none" strike="noStrike">
                <a:solidFill>
                  <a:srgbClr val="3A3530"/>
                </a:solidFill>
                <a:latin typeface="Trebuchet MS"/>
                <a:ea typeface="Trebuchet MS"/>
                <a:cs typeface="Trebuchet MS"/>
                <a:sym typeface="Trebuchet MS"/>
              </a:rPr>
              <a:t>  CS 620  ·  SPRING 2026  ·  UW–MADISON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475488" y="5669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860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706860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475488" y="822960"/>
            <a:ext cx="6217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1EB"/>
              </a:buClr>
              <a:buSzPts val="8600"/>
              <a:buFont typeface="Georgia"/>
              <a:buNone/>
            </a:pPr>
            <a:r>
              <a:rPr b="0" i="0" lang="en-US" sz="8600" u="none" cap="none" strike="noStrike">
                <a:solidFill>
                  <a:srgbClr val="F5F1EB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0" i="0" sz="8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6583680" y="822960"/>
            <a:ext cx="914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3A2A"/>
              </a:buClr>
              <a:buSzPts val="8600"/>
              <a:buFont typeface="Georgia"/>
              <a:buNone/>
            </a:pPr>
            <a:r>
              <a:rPr b="0" i="0" lang="en-US" sz="8600" u="none" cap="none" strike="noStrike">
                <a:solidFill>
                  <a:srgbClr val="B83A2A"/>
                </a:solidFill>
                <a:latin typeface="Georgia"/>
                <a:ea typeface="Georgia"/>
                <a:cs typeface="Georgia"/>
                <a:sym typeface="Georgia"/>
              </a:rPr>
              <a:t>?</a:t>
            </a:r>
            <a:endParaRPr b="0" i="0" sz="8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475488" y="246888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1EB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rgbClr val="F5F1EB"/>
                </a:solidFill>
                <a:latin typeface="Georgia"/>
                <a:ea typeface="Georgia"/>
                <a:cs typeface="Georgia"/>
                <a:sym typeface="Georgia"/>
              </a:rPr>
              <a:t>ShopBop Showdown — turning fashion discovery into a competitive, social experience.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